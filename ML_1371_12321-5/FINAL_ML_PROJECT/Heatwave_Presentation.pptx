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F1-Score</c:v>
                </c:pt>
              </c:strCache>
            </c:strRef>
          </c:tx>
          <c:spPr>
            <a:solidFill>
              <a:srgbClr val="C0392B"/>
            </a:solidFill>
            <a:effectLst/>
          </c:spPr>
          <c:invertIfNegative val="0"/>
          <c:dLbls>
            <c:numFmt formatCode="0.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B2631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Logistic
Regression</c:v>
                </c:pt>
                <c:pt idx="1">
                  <c:v>Decision
Tree</c:v>
                </c:pt>
                <c:pt idx="2">
                  <c:v>Random
Forest</c:v>
                </c:pt>
                <c:pt idx="3">
                  <c:v>Gradient
Boosting</c:v>
                </c:pt>
                <c:pt idx="4">
                  <c:v>KNN</c:v>
                </c:pt>
                <c:pt idx="5">
                  <c:v>SVC</c:v>
                </c:pt>
                <c:pt idx="6">
                  <c:v>Voting
Ensemble</c:v>
                </c:pt>
                <c:pt idx="7">
                  <c:v>Bayesian
Ensemble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0.59399999999999997</c:v>
                </c:pt>
                <c:pt idx="1">
                  <c:v>0.57799999999999996</c:v>
                </c:pt>
                <c:pt idx="2">
                  <c:v>0.69599999999999995</c:v>
                </c:pt>
                <c:pt idx="3">
                  <c:v>0.57699999999999996</c:v>
                </c:pt>
                <c:pt idx="4">
                  <c:v>0.51200000000000001</c:v>
                </c:pt>
                <c:pt idx="5">
                  <c:v>0.65400000000000003</c:v>
                </c:pt>
                <c:pt idx="6">
                  <c:v>0.69499999999999995</c:v>
                </c:pt>
                <c:pt idx="7">
                  <c:v>0.69399999999999995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DE9-4AD1-9D56-5B6BA0C38C2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D6D7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8"/>
        </c:scaling>
        <c:delete val="0"/>
        <c:axPos val="l"/>
        <c:majorGridlines>
          <c:spPr>
            <a:ln w="9525" cap="flat">
              <a:solidFill>
                <a:srgbClr val="E5E7E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D6D7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FFFFFF"/>
          </a:solidFill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982577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6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102257"/>
            <a:ext cx="10881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Predicting Heatwaves in Rajasthan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40080" y="310896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Machine Learning Classification Approach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40080" y="365760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8391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Ranveer Thakur Chand  |  ITAI 1371 – Machine Learning  |  Final Project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9966960" y="822960"/>
            <a:ext cx="1463040" cy="1463040"/>
          </a:xfrm>
          <a:prstGeom prst="ellipse">
            <a:avLst/>
          </a:prstGeom>
          <a:solidFill>
            <a:srgbClr val="C0392B">
              <a:alpha val="8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0561320" y="141732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6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Approach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2606040" cy="4297680"/>
          </a:xfrm>
          <a:prstGeom prst="roundRect">
            <a:avLst>
              <a:gd name="adj" fmla="val 2807"/>
            </a:avLst>
          </a:prstGeom>
          <a:solidFill>
            <a:srgbClr val="F4F6F7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31520" y="169164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31520" y="2331720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6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Preprocess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31520" y="2834640"/>
            <a:ext cx="22402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Reused midterm pipeline: missing values filled, DISTRICT one-hot encoded, features scaled, SMOTE applied to training data only.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383280" y="1463040"/>
            <a:ext cx="2606040" cy="4297680"/>
          </a:xfrm>
          <a:prstGeom prst="roundRect">
            <a:avLst>
              <a:gd name="adj" fmla="val 2807"/>
            </a:avLst>
          </a:prstGeom>
          <a:solidFill>
            <a:srgbClr val="F4F6F7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566160" y="169164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3566160" y="2331720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6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Re-split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566160" y="2834640"/>
            <a:ext cx="22402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Restructured 70/30 into Train (70%) / Validation (15%) / Test (15%), keeping validation and test realistically imbalanced.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17920" y="1463040"/>
            <a:ext cx="2606040" cy="4297680"/>
          </a:xfrm>
          <a:prstGeom prst="roundRect">
            <a:avLst>
              <a:gd name="adj" fmla="val 2807"/>
            </a:avLst>
          </a:prstGeom>
          <a:solidFill>
            <a:srgbClr val="F4F6F7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400800" y="169164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6400800" y="2331720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6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 6 Models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400800" y="2834640"/>
            <a:ext cx="22402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Logistic Regression, Decision Tree, Random Forest, Gradient Boosting, KNN, and SVC.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9052560" y="1463040"/>
            <a:ext cx="2606040" cy="4297680"/>
          </a:xfrm>
          <a:prstGeom prst="roundRect">
            <a:avLst>
              <a:gd name="adj" fmla="val 2807"/>
            </a:avLst>
          </a:prstGeom>
          <a:solidFill>
            <a:srgbClr val="F4F6F7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9235440" y="169164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9235440" y="2331720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6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Catch &amp; Fix Leakage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235440" y="2834640"/>
            <a:ext cx="22402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 TMAX/TMIN/TEMP2M were encoding the label directly; removed them and retrained for honest results.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6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 — Test Set (Leak-Free)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F1-Score by model, after removing TMAX / TMIN / TEMP2M</a:t>
            </a:r>
            <a:endParaRPr lang="en-US" sz="13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463040"/>
          <a:ext cx="7498080" cy="4846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8321040" y="1463040"/>
            <a:ext cx="3291840" cy="4846320"/>
          </a:xfrm>
          <a:prstGeom prst="roundRect">
            <a:avLst>
              <a:gd name="adj" fmla="val 2222"/>
            </a:avLst>
          </a:prstGeom>
          <a:solidFill>
            <a:srgbClr val="F4F6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8549640" y="169164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6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numbers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549640" y="2148840"/>
            <a:ext cx="283464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1E84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Best: Random Forest
</a:t>
            </a:r>
            <a:r>
              <a:rPr lang="en-US" sz="11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F1 = 0.696, Precision = 0.632
</a:t>
            </a:r>
            <a:r>
              <a:rPr lang="en-US" sz="1200" b="1" dirty="0">
                <a:solidFill>
                  <a:srgbClr val="1B26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ROC-AUC: Ensembles
</a:t>
            </a:r>
            <a:r>
              <a:rPr lang="en-US" sz="11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0.985 (Voting &amp; Bayesian)
</a:t>
            </a:r>
            <a:r>
              <a:rPr lang="en-US" sz="12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Weakest: KNN
</a:t>
            </a:r>
            <a:r>
              <a:rPr lang="en-US" sz="110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F1 = 0.512, Precision = 0.368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26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463040"/>
            <a:ext cx="5212080" cy="4754880"/>
          </a:xfrm>
          <a:prstGeom prst="roundRect">
            <a:avLst>
              <a:gd name="adj" fmla="val 1538"/>
            </a:avLst>
          </a:prstGeom>
          <a:solidFill>
            <a:srgbClr val="2434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914400" y="173736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B7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false alarms are costly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219456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Random Forest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14400" y="2743200"/>
            <a:ext cx="46634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D6DB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precision (0.632) and best standalone F1 (0.696). Fewer false heatwave alerts, at a small cost to recall.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309360" y="1463040"/>
            <a:ext cx="5212080" cy="4754880"/>
          </a:xfrm>
          <a:prstGeom prst="roundRect">
            <a:avLst>
              <a:gd name="adj" fmla="val 1538"/>
            </a:avLst>
          </a:prstGeom>
          <a:solidFill>
            <a:srgbClr val="2434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583680" y="173736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A9D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missed heatwaves are costly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583680" y="219456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the Voting Ensemble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583680" y="2743200"/>
            <a:ext cx="46634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D6DB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recall (0.884) and best ROC-AUC (0.985) of any model. Catches more real heatwaves at the cost of more false alarms.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617220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391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leakage from TMAX / TMIN / TEMP2M was identified and removed — all results above reflect the corrected, honest evaluation.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272</Words>
  <Application>Microsoft Office PowerPoint</Application>
  <PresentationFormat>Widescreen</PresentationFormat>
  <Paragraphs>32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6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Ranveer Chand</cp:lastModifiedBy>
  <cp:revision>2</cp:revision>
  <dcterms:created xsi:type="dcterms:W3CDTF">2026-08-06T17:23:07Z</dcterms:created>
  <dcterms:modified xsi:type="dcterms:W3CDTF">2026-08-07T03:18:20Z</dcterms:modified>
</cp:coreProperties>
</file>